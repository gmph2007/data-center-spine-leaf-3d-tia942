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11535" cy="5577840"/>
          </a:xfrm>
          <a:prstGeom prst="roundRect">
            <a:avLst/>
          </a:prstGeom>
          <a:solidFill>
            <a:srgbClr val="0C142A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minedu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2336248" cy="621792"/>
          </a:xfrm>
          <a:prstGeom prst="rect">
            <a:avLst/>
          </a:prstGeom>
        </p:spPr>
      </p:pic>
      <p:pic>
        <p:nvPicPr>
          <p:cNvPr id="5" name="Picture 4" descr="logo_herc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914400"/>
            <a:ext cx="694944" cy="86868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286000" y="960120"/>
            <a:ext cx="7589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700">
                <a:solidFill>
                  <a:srgbClr val="FFFFFF"/>
                </a:solidFill>
              </a:defRPr>
            </a:pPr>
            <a:r>
              <a:t>IESTP HERMANOS CÁRCAMO – PAITA</a:t>
            </a:r>
          </a:p>
          <a:p>
            <a:pPr algn="ctr">
              <a:defRPr b="1" sz="1000">
                <a:solidFill>
                  <a:srgbClr val="FFB703"/>
                </a:solidFill>
              </a:defRPr>
            </a:pPr>
            <a:r>
              <a:t>EDUCACIÓN DE CALIDAD  |  LICENCIAMIENTO INSTITUCIONAL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783080"/>
            <a:ext cx="7619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300">
                <a:solidFill>
                  <a:srgbClr val="FFFFFF"/>
                </a:solidFill>
              </a:defRPr>
            </a:pPr>
            <a:r>
              <a:t>SISTEMA DE TRANSPORTE DE INFORMACIÓN</a:t>
            </a:r>
            <a:br/>
            <a:r>
              <a:t>EN UN DATA CENTER I (ARQUITECTURA)</a:t>
            </a:r>
          </a:p>
          <a:p>
            <a:pPr algn="ctr">
              <a:defRPr b="1" sz="1300">
                <a:solidFill>
                  <a:srgbClr val="00F0FF"/>
                </a:solidFill>
              </a:defRPr>
            </a:pPr>
            <a:r>
              <a:t>Caso Práctico de Cableado  •  Simulación 3D en Python  •  Mapa Conceptual Integral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3886200"/>
            <a:ext cx="8899855" cy="1828800"/>
          </a:xfrm>
          <a:prstGeom prst="roundRect">
            <a:avLst/>
          </a:prstGeom>
          <a:solidFill>
            <a:srgbClr val="13203C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4023360"/>
            <a:ext cx="83210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94A3B8"/>
                </a:solidFill>
              </a:rPr>
              <a:t>ESTUDIANTE EXPOSITOR:      </a:t>
            </a:r>
            <a:r>
              <a:rPr b="1" sz="1050">
                <a:solidFill>
                  <a:srgbClr val="FFB703"/>
                </a:solidFill>
              </a:rPr>
              <a:t>GERSON MISAEL PINTADO HUAMAN</a:t>
            </a:r>
          </a:p>
          <a:p>
            <a:r>
              <a:rPr b="1" sz="1000">
                <a:solidFill>
                  <a:srgbClr val="94A3B8"/>
                </a:solidFill>
              </a:rPr>
              <a:t>DOCENTE RESPONSABLE:       </a:t>
            </a:r>
            <a:r>
              <a:rPr b="1" sz="1050">
                <a:solidFill>
                  <a:srgbClr val="FFFFFF"/>
                </a:solidFill>
              </a:rPr>
              <a:t>ING. JAVIER EDUARDO JARAMILLO ATOCHE</a:t>
            </a:r>
          </a:p>
          <a:p>
            <a:r>
              <a:rPr b="1" sz="1000">
                <a:solidFill>
                  <a:srgbClr val="94A3B8"/>
                </a:solidFill>
              </a:rPr>
              <a:t>UNIDAD DIDÁCTICA:          </a:t>
            </a:r>
            <a:r>
              <a:rPr b="1" sz="1050">
                <a:solidFill>
                  <a:srgbClr val="FFFFFF"/>
                </a:solidFill>
              </a:rPr>
              <a:t>DISEÑO DE DATA CENTER  |  SESIÓN 05</a:t>
            </a:r>
          </a:p>
          <a:p>
            <a:r>
              <a:rPr b="1" sz="1000">
                <a:solidFill>
                  <a:srgbClr val="94A3B8"/>
                </a:solidFill>
              </a:rPr>
              <a:t>PROGRAMA ACADÉMICO:        </a:t>
            </a:r>
            <a:r>
              <a:rPr b="1" sz="1050">
                <a:solidFill>
                  <a:srgbClr val="FFFFFF"/>
                </a:solidFill>
              </a:rPr>
              <a:t>ARQUITECTURA DE PLATAFORMAS Y SERVICIOS DE TI</a:t>
            </a:r>
          </a:p>
          <a:p>
            <a:r>
              <a:rPr b="1" sz="1000">
                <a:solidFill>
                  <a:srgbClr val="94A3B8"/>
                </a:solidFill>
              </a:rPr>
              <a:t>SIMULACIÓN COMPUTACIONAL:  </a:t>
            </a:r>
            <a:r>
              <a:rPr b="1" sz="1050">
                <a:solidFill>
                  <a:srgbClr val="00F0FF"/>
                </a:solidFill>
              </a:rPr>
              <a:t>MODELADO 3D INTERACTIVO (PYTHON / GOOGLE COLAB / WEBGL)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MARCO PEDAGÓGICO DEL SÍLABO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Resumen Ejecutivo del Proyecto y Metas de Aprendizaje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2/16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2514600" cy="137160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325880"/>
            <a:ext cx="2331720" cy="4572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3560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FB703"/>
                </a:solidFill>
              </a:rPr>
              <a:t>99.74 </a:t>
            </a:r>
            <a:r>
              <a:rPr b="1" sz="1300">
                <a:solidFill>
                  <a:srgbClr val="E2E8F0"/>
                </a:solidFill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94767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FFFFFF"/>
                </a:solidFill>
              </a:defRPr>
            </a:pPr>
            <a:r>
              <a:t>DISPONIBILIDAD TIER 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22199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Estándar ANSI/TIA-942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325880"/>
            <a:ext cx="2514600" cy="137160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1325880"/>
            <a:ext cx="233172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143560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00F0FF"/>
                </a:solidFill>
              </a:rPr>
              <a:t>100 </a:t>
            </a:r>
            <a:r>
              <a:rPr b="1" sz="1300">
                <a:solidFill>
                  <a:srgbClr val="E2E8F0"/>
                </a:solidFill>
              </a:rPr>
              <a:t>Gbps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194767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FFFFFF"/>
                </a:solidFill>
              </a:defRPr>
            </a:pPr>
            <a:r>
              <a:t>BACKBONE SPINE-LEAF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22199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Fibra Óptica OM4 MPO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325880"/>
            <a:ext cx="2514600" cy="137160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25880"/>
            <a:ext cx="2331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43560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0B981"/>
                </a:solidFill>
              </a:rPr>
              <a:t>&lt; 1.0 </a:t>
            </a:r>
            <a:r>
              <a:rPr b="1" sz="1300">
                <a:solidFill>
                  <a:srgbClr val="E2E8F0"/>
                </a:solidFill>
              </a:rPr>
              <a:t>µs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94767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FFFFFF"/>
                </a:solidFill>
              </a:defRPr>
            </a:pPr>
            <a:r>
              <a:t>LATENCIA CONMUTACIÓN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22199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Matriz Clos No Bloqueante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1325880"/>
            <a:ext cx="2633472" cy="137160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400" y="1325880"/>
            <a:ext cx="2450592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1435608"/>
            <a:ext cx="2359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A855F7"/>
                </a:solidFill>
              </a:rPr>
              <a:t>10 </a:t>
            </a:r>
            <a:r>
              <a:rPr b="1" sz="1300">
                <a:solidFill>
                  <a:srgbClr val="E2E8F0"/>
                </a:solidFill>
              </a:rPr>
              <a:t>Gbps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1947672"/>
            <a:ext cx="2359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FFFFFF"/>
                </a:solidFill>
              </a:defRPr>
            </a:pPr>
            <a:r>
              <a:t>SERVIDORES TOP OF 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221992"/>
            <a:ext cx="2359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Cobre Cat 6A Blindado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2880360"/>
            <a:ext cx="5212080" cy="329184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8096" y="2916936"/>
            <a:ext cx="5138928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2880360"/>
            <a:ext cx="73152" cy="32918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295351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0F0FF"/>
                </a:solidFill>
              </a:defRPr>
            </a:pPr>
            <a:r>
              <a:t>COMPETENCIA Y CRITERIO EVALUATIVO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297180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00F0FF"/>
                </a:solidFill>
              </a:defRPr>
            </a:pPr>
            <a:r>
              <a:t>SÍLABO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410712"/>
            <a:ext cx="475488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50">
                <a:solidFill>
                  <a:srgbClr val="FFFFFF"/>
                </a:solidFill>
              </a:rPr>
              <a:t>✦ Capacidad Terminal (UC2.C5): </a:t>
            </a:r>
            <a:r>
              <a:rPr sz="950">
                <a:solidFill>
                  <a:srgbClr val="E2E8F0"/>
                </a:solidFill>
              </a:rPr>
              <a:t>Diseñar la arquitectura de comunicaciones del data center y servicios de TI considerando viabilidad técnica y presupuestaria.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50">
                <a:solidFill>
                  <a:srgbClr val="FFFFFF"/>
                </a:solidFill>
              </a:rPr>
              <a:t>✦ Elemento de Capacidad: </a:t>
            </a:r>
            <a:r>
              <a:rPr sz="950">
                <a:solidFill>
                  <a:srgbClr val="E2E8F0"/>
                </a:solidFill>
              </a:rPr>
              <a:t>Identificar y dimensionar los principales componentes tecnológicos del sistema de cableado y red.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50">
                <a:solidFill>
                  <a:srgbClr val="FFFFFF"/>
                </a:solidFill>
              </a:rPr>
              <a:t>✦ Indicador de Logro: </a:t>
            </a:r>
            <a:r>
              <a:rPr sz="950">
                <a:solidFill>
                  <a:srgbClr val="E2E8F0"/>
                </a:solidFill>
              </a:rPr>
              <a:t>Compara medios y topologías de transmisión considerando capacidad, distancia, disponibilidad y organización física.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2880360"/>
            <a:ext cx="5242255" cy="329184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54496" y="2916936"/>
            <a:ext cx="5169103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2880360"/>
            <a:ext cx="73152" cy="329184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953512"/>
            <a:ext cx="3870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B703"/>
                </a:solidFill>
              </a:defRPr>
            </a:pPr>
            <a:r>
              <a:t>PRODUCTOS ENTREGABLES DESARROLLADOS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71455" y="297180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FFB703"/>
                </a:solidFill>
              </a:defRPr>
            </a:pPr>
            <a:r>
              <a:t>PRODUCTO FINAL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410712"/>
            <a:ext cx="4785055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50">
                <a:solidFill>
                  <a:srgbClr val="FFFFFF"/>
                </a:solidFill>
              </a:rPr>
              <a:t>✦ 1. Caso Práctico Empresarial: </a:t>
            </a:r>
            <a:r>
              <a:rPr sz="950">
                <a:solidFill>
                  <a:srgbClr val="E2E8F0"/>
                </a:solidFill>
              </a:rPr>
              <a:t>Diseño del Data Center On-Premise para 'Mar del Norte Logistics S.A.C.' en Paita.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50">
                <a:solidFill>
                  <a:srgbClr val="FFFFFF"/>
                </a:solidFill>
              </a:rPr>
              <a:t>✦ 2. Simulación 3D en Python: </a:t>
            </a:r>
            <a:r>
              <a:rPr sz="950">
                <a:solidFill>
                  <a:srgbClr val="E2E8F0"/>
                </a:solidFill>
              </a:rPr>
              <a:t>Modelado tridimensional interactivo de salas blancas, bandejas de malla, pasillos fríos y enlaces.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50">
                <a:solidFill>
                  <a:srgbClr val="FFFFFF"/>
                </a:solidFill>
              </a:rPr>
              <a:t>✦ 3. Matriz Comparativa Oficial: </a:t>
            </a:r>
            <a:r>
              <a:rPr sz="950">
                <a:solidFill>
                  <a:srgbClr val="E2E8F0"/>
                </a:solidFill>
              </a:rPr>
              <a:t>Evaluación técnica y económica de Fibra Óptica vs Cobre según el propósito de la sesión.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50">
                <a:solidFill>
                  <a:srgbClr val="FFFFFF"/>
                </a:solidFill>
              </a:rPr>
              <a:t>✦ 4. Mapa Conceptual Estructurado: </a:t>
            </a:r>
            <a:r>
              <a:rPr sz="950">
                <a:solidFill>
                  <a:srgbClr val="E2E8F0"/>
                </a:solidFill>
              </a:rPr>
              <a:t>Sistematización gráfica de estándares, medios, topologías y canalizaciones.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ACTIVIDAD 1: CASO PRÁCTICO EMPRESARIAL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Data Center 'Mar del Norte Logistics S.A.C.' – Paita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3/16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5212080" cy="224028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1362456"/>
            <a:ext cx="5138928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325880"/>
            <a:ext cx="73152" cy="22402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39903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EF476F"/>
                </a:solidFill>
              </a:defRPr>
            </a:pPr>
            <a:r>
              <a:t>SITUACIÓN HEREDADA (EL PROBLEMA)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EF476F"/>
                </a:solidFill>
              </a:defRPr>
            </a:pPr>
            <a:r>
              <a:t>DIAGNÓSTICO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856232"/>
            <a:ext cx="475488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00">
                <a:solidFill>
                  <a:srgbClr val="FFFFFF"/>
                </a:solidFill>
              </a:rPr>
              <a:t>✦ Ruido Electromagnético (EMI): </a:t>
            </a:r>
            <a:r>
              <a:rPr sz="900">
                <a:solidFill>
                  <a:srgbClr val="E2E8F0"/>
                </a:solidFill>
              </a:rPr>
              <a:t>Interferencias severas causadas por motores de refrigeración portuaria y grúas sobre cables no apantallados.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00">
                <a:solidFill>
                  <a:srgbClr val="FFFFFF"/>
                </a:solidFill>
              </a:rPr>
              <a:t>✦ Cuellos de Botella y Caídas: </a:t>
            </a:r>
            <a:r>
              <a:rPr sz="900">
                <a:solidFill>
                  <a:srgbClr val="E2E8F0"/>
                </a:solidFill>
              </a:rPr>
              <a:t>Topología en árbol saturada que generaba pérdida de paquetes en trámites aduaneros con SUNAT y APN.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00">
                <a:solidFill>
                  <a:srgbClr val="FFFFFF"/>
                </a:solidFill>
              </a:rPr>
              <a:t>✦ Desorden Físico y Riesgo Térmico: </a:t>
            </a:r>
            <a:r>
              <a:rPr sz="900">
                <a:solidFill>
                  <a:srgbClr val="E2E8F0"/>
                </a:solidFill>
              </a:rPr>
              <a:t>Cableado maraña en racks que impedía el flujo de aire y provocaba calentamiento crítico.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5212080" cy="242316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" y="3785615"/>
            <a:ext cx="5138928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49039"/>
            <a:ext cx="73152" cy="2423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22191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SOLUCIÓN DE INGENIERÍA PROPUESTA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840479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10B981"/>
                </a:solidFill>
              </a:defRPr>
            </a:pPr>
            <a:r>
              <a:t>PROPUESTA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79391"/>
            <a:ext cx="475488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00">
                <a:solidFill>
                  <a:srgbClr val="FFFFFF"/>
                </a:solidFill>
              </a:rPr>
              <a:t>✦ Data Center Tier II (ANSI/TIA-942): </a:t>
            </a:r>
            <a:r>
              <a:rPr sz="900">
                <a:solidFill>
                  <a:srgbClr val="E2E8F0"/>
                </a:solidFill>
              </a:rPr>
              <a:t>Diseño con redundancia N+1 y disponibilidad de 99.741% para operaciones 24/7 sin interrupciones.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00">
                <a:solidFill>
                  <a:srgbClr val="FFFFFF"/>
                </a:solidFill>
              </a:rPr>
              <a:t>✦ Topología Spine-Leaf no bloqueante: </a:t>
            </a:r>
            <a:r>
              <a:rPr sz="900">
                <a:solidFill>
                  <a:srgbClr val="E2E8F0"/>
                </a:solidFill>
              </a:rPr>
              <a:t>Backbone de fibra OM4 a 100G inmune a EMI con latencia menor a 1 microsegundo.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00">
                <a:solidFill>
                  <a:srgbClr val="FFFFFF"/>
                </a:solidFill>
              </a:rPr>
              <a:t>✦ Confinamiento Pasillo Frío (20°C): </a:t>
            </a:r>
            <a:r>
              <a:rPr sz="900">
                <a:solidFill>
                  <a:srgbClr val="E2E8F0"/>
                </a:solidFill>
              </a:rPr>
              <a:t>Cerramiento hermético de pasillos con bandejas aéreas tipo malla, reduciendo consumo en 30%.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325880"/>
            <a:ext cx="5242255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1453896"/>
            <a:ext cx="2926080" cy="292608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SALA BLANCA TIER II (CASO PAITA)</a:t>
            </a:r>
          </a:p>
        </p:txBody>
      </p:sp>
      <p:pic>
        <p:nvPicPr>
          <p:cNvPr id="25" name="Picture 24" descr="datacenter_rack_cabl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09265"/>
            <a:ext cx="4876495" cy="2721764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6400800" y="5138928"/>
            <a:ext cx="48764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FFFFFF"/>
                </a:solidFill>
              </a:defRPr>
            </a:pPr>
            <a:r>
              <a:t>✦ Racks 42U y Pasillo Frío Confinado (20°C)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Bandejas aéreas a 2.60m segregando enlaces de fibra OM4 (amarillo) y cobre Cat 6A (azul) en Mar del Norte Logistics S.A.C.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DISEÑO DE ARQUITECTURA DE 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Topología Spine-Leaf (Matriz Clos de 2 Niveles)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4/16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6217920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453896"/>
            <a:ext cx="2926080" cy="292608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TOPOLOGÍA SPINE-LEAF (ANSI/TIA-942)</a:t>
            </a:r>
          </a:p>
        </p:txBody>
      </p:sp>
      <p:pic>
        <p:nvPicPr>
          <p:cNvPr id="13" name="Picture 12" descr="diagrama_spine_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399" y="1837944"/>
            <a:ext cx="5600161" cy="3264408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914400" y="5138928"/>
            <a:ext cx="5852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FFFFFF"/>
                </a:solidFill>
              </a:defRPr>
            </a:pPr>
            <a:r>
              <a:t>✦ Matriz Clos de 2 Niveles No Bloqueante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Enlaces troncales de fibra OM4 MPO a 100 Gbps entre Spines (MDA) y Leafs (HDA) con latencia &lt; 1 µs.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325880"/>
            <a:ext cx="4327855" cy="150876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68896" y="1362456"/>
            <a:ext cx="4254703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1325880"/>
            <a:ext cx="73152" cy="150876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399032"/>
            <a:ext cx="2956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F0FF"/>
                </a:solidFill>
              </a:defRPr>
            </a:pPr>
            <a:r>
              <a:t>LATENCIA ULTRA BAJA Y PREDECIBLE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71455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00F0FF"/>
                </a:solidFill>
              </a:defRPr>
            </a:pPr>
            <a:r>
              <a:t>&lt; 1 µs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856232"/>
            <a:ext cx="3870655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Máximo 2 Saltos: </a:t>
            </a:r>
            <a:r>
              <a:rPr sz="880">
                <a:solidFill>
                  <a:srgbClr val="E2E8F0"/>
                </a:solidFill>
              </a:rPr>
              <a:t>Cualquier servidor en cualquier rack se comunica a exactamente 2 saltos de red, garantizando latencias &lt; 1 µs para bases de datos.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2971800"/>
            <a:ext cx="4327855" cy="150876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68896" y="3008376"/>
            <a:ext cx="4254703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0" y="297180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3044952"/>
            <a:ext cx="2956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ELIMINACIÓN DE STP CON ECMP 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71455" y="306324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10B981"/>
                </a:solidFill>
              </a:defRPr>
            </a:pPr>
            <a:r>
              <a:t>100% ACTIVO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502152"/>
            <a:ext cx="3870655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Cero Puertos Bloqueados: </a:t>
            </a:r>
            <a:r>
              <a:rPr sz="880">
                <a:solidFill>
                  <a:srgbClr val="E2E8F0"/>
                </a:solidFill>
              </a:rPr>
              <a:t>A diferencia de la red tradicional con Spanning Tree, en Spine-Leaf todos los enlaces de fibra están 100% activos y balanceados.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4617720"/>
            <a:ext cx="4327855" cy="155448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68896" y="4654296"/>
            <a:ext cx="4254703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0" y="4617720"/>
            <a:ext cx="73152" cy="155448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4690872"/>
            <a:ext cx="29562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B703"/>
                </a:solidFill>
              </a:defRPr>
            </a:pPr>
            <a:r>
              <a:t>ESCALABILIDAD HORIZONTAL SIMPLE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71455" y="470916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FFB703"/>
                </a:solidFill>
              </a:defRPr>
            </a:pPr>
            <a:r>
              <a:t>SCALE-OUT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5148072"/>
            <a:ext cx="387065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Crecimiento Plug &amp; Play: </a:t>
            </a:r>
            <a:r>
              <a:rPr sz="880">
                <a:solidFill>
                  <a:srgbClr val="E2E8F0"/>
                </a:solidFill>
              </a:rPr>
              <a:t>Para añadir nuevos racks de servidores solo se instala un switch Leaf y se conecta a los Spines sin alterar la red en producción.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ESTÁNDAR DE INFRAESTRUCTURA ANSI/TIA-942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Distribución Espacial de Telecomunicaciones en Data Centers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5/16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2057400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1362456"/>
            <a:ext cx="1984248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325880"/>
            <a:ext cx="73152" cy="484632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399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B703"/>
                </a:solidFill>
              </a:defRPr>
            </a:pPr>
            <a:r>
              <a:t>1. 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FFB703"/>
                </a:solidFill>
              </a:defRPr>
            </a:pPr>
            <a:r>
              <a:t>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856232"/>
            <a:ext cx="160020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Área: </a:t>
            </a:r>
            <a:r>
              <a:rPr sz="880">
                <a:solidFill>
                  <a:srgbClr val="E2E8F0"/>
                </a:solidFill>
              </a:rPr>
              <a:t>Entrance Room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Función: </a:t>
            </a:r>
            <a:r>
              <a:rPr sz="880">
                <a:solidFill>
                  <a:srgbClr val="E2E8F0"/>
                </a:solidFill>
              </a:rPr>
              <a:t>Acometida dual de proveedores de Internet (ISPs duales) vía fibra monomodo OS2 subterránea.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Medio Físico: </a:t>
            </a:r>
            <a:r>
              <a:rPr sz="880">
                <a:solidFill>
                  <a:srgbClr val="E2E8F0"/>
                </a:solidFill>
              </a:rPr>
              <a:t>Fibra OS2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325880"/>
            <a:ext cx="2057400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62656" y="1362456"/>
            <a:ext cx="1984248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0" y="1325880"/>
            <a:ext cx="73152" cy="48463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399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0F0FF"/>
                </a:solidFill>
              </a:defRPr>
            </a:pPr>
            <a:r>
              <a:t>2. MDA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00F0FF"/>
                </a:solidFill>
              </a:defRPr>
            </a:pPr>
            <a:r>
              <a:t>MDA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1856232"/>
            <a:ext cx="160020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Área: </a:t>
            </a:r>
            <a:r>
              <a:rPr sz="880">
                <a:solidFill>
                  <a:srgbClr val="E2E8F0"/>
                </a:solidFill>
              </a:rPr>
              <a:t>Main Distribution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Función: </a:t>
            </a:r>
            <a:r>
              <a:rPr sz="880">
                <a:solidFill>
                  <a:srgbClr val="E2E8F0"/>
                </a:solidFill>
              </a:rPr>
              <a:t>Núcleo del Data Center. Aloja switches Spine 100G y enrutadores de frontera BGP.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Medio Físico: </a:t>
            </a:r>
            <a:r>
              <a:rPr sz="880">
                <a:solidFill>
                  <a:srgbClr val="E2E8F0"/>
                </a:solidFill>
              </a:rPr>
              <a:t>Fibra OM4 MPO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1325880"/>
            <a:ext cx="2057400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57216" y="1362456"/>
            <a:ext cx="1984248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325880"/>
            <a:ext cx="73152" cy="4846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1399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3. HDA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10B981"/>
                </a:solidFill>
              </a:defRPr>
            </a:pPr>
            <a:r>
              <a:t>HDA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1856232"/>
            <a:ext cx="160020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Área: </a:t>
            </a:r>
            <a:r>
              <a:rPr sz="880">
                <a:solidFill>
                  <a:srgbClr val="E2E8F0"/>
                </a:solidFill>
              </a:rPr>
              <a:t>Horizontal Distr.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Función: </a:t>
            </a:r>
            <a:r>
              <a:rPr sz="880">
                <a:solidFill>
                  <a:srgbClr val="E2E8F0"/>
                </a:solidFill>
              </a:rPr>
              <a:t>Switches Leaf y paneles de interconexión hacia las filas de servidores.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Medio Físico: </a:t>
            </a:r>
            <a:r>
              <a:rPr sz="880">
                <a:solidFill>
                  <a:srgbClr val="E2E8F0"/>
                </a:solidFill>
              </a:rPr>
              <a:t>Fibra OM4 MPO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199" y="1325880"/>
            <a:ext cx="2057400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51775" y="1362456"/>
            <a:ext cx="1984248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199" y="1325880"/>
            <a:ext cx="73152" cy="4846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1399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A855F7"/>
                </a:solidFill>
              </a:defRPr>
            </a:pPr>
            <a:r>
              <a:t>4. EDA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A855F7"/>
                </a:solidFill>
              </a:defRPr>
            </a:pPr>
            <a:r>
              <a:t>EDA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799" y="1856232"/>
            <a:ext cx="160020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Área: </a:t>
            </a:r>
            <a:r>
              <a:rPr sz="880">
                <a:solidFill>
                  <a:srgbClr val="E2E8F0"/>
                </a:solidFill>
              </a:rPr>
              <a:t>Equipment Distr.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Función: </a:t>
            </a:r>
            <a:r>
              <a:rPr sz="880">
                <a:solidFill>
                  <a:srgbClr val="E2E8F0"/>
                </a:solidFill>
              </a:rPr>
              <a:t>Racks 42U con servidores blade, virtualizadores y cabinas de almacenamiento SAN.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Medio Físico: </a:t>
            </a:r>
            <a:r>
              <a:rPr sz="880">
                <a:solidFill>
                  <a:srgbClr val="E2E8F0"/>
                </a:solidFill>
              </a:rPr>
              <a:t>Cobre Cat 6A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1325880"/>
            <a:ext cx="2057400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46336" y="1362456"/>
            <a:ext cx="1984248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09760" y="1325880"/>
            <a:ext cx="73152" cy="48463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1399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EF476F"/>
                </a:solidFill>
              </a:defRPr>
            </a:pPr>
            <a:r>
              <a:t>5. ZDA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78440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EF476F"/>
                </a:solidFill>
              </a:defRPr>
            </a:pPr>
            <a:r>
              <a:t>ZDA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1856232"/>
            <a:ext cx="160020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Área: </a:t>
            </a:r>
            <a:r>
              <a:rPr sz="880">
                <a:solidFill>
                  <a:srgbClr val="E2E8F0"/>
                </a:solidFill>
              </a:rPr>
              <a:t>Zone Distribution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Función: </a:t>
            </a:r>
            <a:r>
              <a:rPr sz="880">
                <a:solidFill>
                  <a:srgbClr val="E2E8F0"/>
                </a:solidFill>
              </a:rPr>
              <a:t>Punto intermedio de consolidación para sensores IoT de frío y cámaras IP.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Medio Físico: </a:t>
            </a:r>
            <a:r>
              <a:rPr sz="880">
                <a:solidFill>
                  <a:srgbClr val="E2E8F0"/>
                </a:solidFill>
              </a:rPr>
              <a:t>Cobre / PoE+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DISEÑO ARQUITECTÓNICO TRIDIMENSIONAL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Modelo Isométrico 3D / 4K del Data Center (Caso Paita)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6/16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6949440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453896"/>
            <a:ext cx="2926080" cy="292608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MODELADO ISOMÉTRICO 3D (SIMULACIÓN COMPUTACIONAL)</a:t>
            </a:r>
          </a:p>
        </p:txBody>
      </p:sp>
      <p:pic>
        <p:nvPicPr>
          <p:cNvPr id="13" name="Picture 12" descr="datacenter_3d_isometr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874" y="1837944"/>
            <a:ext cx="5848731" cy="3264408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914400" y="5138928"/>
            <a:ext cx="6583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FFFFFF"/>
                </a:solidFill>
              </a:defRPr>
            </a:pPr>
            <a:r>
              <a:t>✦ Arquitectura de Sala Blanca y Confinamiento Térmico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Bandejas aéreas tipo malla a 2.60m segregando fibra OM4 y cobre Cat 6A con retorno de aire CRAC a 35°C.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325880"/>
            <a:ext cx="3596335" cy="1115568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00416" y="1362456"/>
            <a:ext cx="3523183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325880"/>
            <a:ext cx="73152" cy="111556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399032"/>
            <a:ext cx="22247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00F0FF"/>
                </a:solidFill>
              </a:defRPr>
            </a:pPr>
            <a:r>
              <a:t>BANDEJAS AÉREAS CABLE TRAYS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71455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00F0FF"/>
                </a:solidFill>
              </a:defRPr>
            </a:pPr>
            <a:r>
              <a:t>2.60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1856232"/>
            <a:ext cx="313913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50">
                <a:solidFill>
                  <a:srgbClr val="FFFFFF"/>
                </a:solidFill>
              </a:rPr>
              <a:t>✦ Ubicación: </a:t>
            </a:r>
            <a:r>
              <a:rPr sz="850">
                <a:solidFill>
                  <a:srgbClr val="E2E8F0"/>
                </a:solidFill>
              </a:rPr>
              <a:t>Suspendidas a 2.60m segregando fibra OM4 (amarillo) y cobre Cat 6A (azul).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560320"/>
            <a:ext cx="3596335" cy="1115568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00416" y="2596896"/>
            <a:ext cx="3523183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2560320"/>
            <a:ext cx="73152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633472"/>
            <a:ext cx="22247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10B981"/>
                </a:solidFill>
              </a:defRPr>
            </a:pPr>
            <a:r>
              <a:t>PASILLO FRÍO CONFINADO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71455" y="265176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10B981"/>
                </a:solidFill>
              </a:defRPr>
            </a:pPr>
            <a:r>
              <a:t>20°C - 22°C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090672"/>
            <a:ext cx="313913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50">
                <a:solidFill>
                  <a:srgbClr val="FFFFFF"/>
                </a:solidFill>
              </a:rPr>
              <a:t>✦ Climatización: </a:t>
            </a:r>
            <a:r>
              <a:rPr sz="850">
                <a:solidFill>
                  <a:srgbClr val="E2E8F0"/>
                </a:solidFill>
              </a:rPr>
              <a:t>Inyección de aire a 20°C por piso técnico perforado hacia el frente de servidores.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794760"/>
            <a:ext cx="3596335" cy="1115568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00416" y="3831336"/>
            <a:ext cx="3523183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3794760"/>
            <a:ext cx="73152" cy="111556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867912"/>
            <a:ext cx="22247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B703"/>
                </a:solidFill>
              </a:defRPr>
            </a:pPr>
            <a:r>
              <a:t>RACKS 42U MICROPERFORADOS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71455" y="388620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FFB703"/>
                </a:solidFill>
              </a:defRPr>
            </a:pPr>
            <a:r>
              <a:t>42U / 19"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325112"/>
            <a:ext cx="313913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50">
                <a:solidFill>
                  <a:srgbClr val="FFFFFF"/>
                </a:solidFill>
              </a:rPr>
              <a:t>✦ Alta Densidad: </a:t>
            </a:r>
            <a:r>
              <a:rPr sz="850">
                <a:solidFill>
                  <a:srgbClr val="E2E8F0"/>
                </a:solidFill>
              </a:rPr>
              <a:t>Puertas con 80% de flujo aerotérmico y switches Top of Rack dedicados.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5029200"/>
            <a:ext cx="3596335" cy="114300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00416" y="5065776"/>
            <a:ext cx="3523183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63840" y="5029200"/>
            <a:ext cx="73152" cy="11430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5102352"/>
            <a:ext cx="22247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EF476F"/>
                </a:solidFill>
              </a:defRPr>
            </a:pPr>
            <a:r>
              <a:t>UNIDADES DE PRECISIÓN CRAC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71455" y="512064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EF476F"/>
                </a:solidFill>
              </a:defRPr>
            </a:pPr>
            <a:r>
              <a:t>PUE &lt; 1.35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5559552"/>
            <a:ext cx="3139135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50">
                <a:solidFill>
                  <a:srgbClr val="FFFFFF"/>
                </a:solidFill>
              </a:rPr>
              <a:t>✦ Extracción: </a:t>
            </a:r>
            <a:r>
              <a:rPr sz="850">
                <a:solidFill>
                  <a:srgbClr val="E2E8F0"/>
                </a:solidFill>
              </a:rPr>
              <a:t>Retorno de aire caliente a 35°C garantizando un coeficiente PUE &lt; 1.35.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COMPUTACIÓN GRÁFICA Y SIMULACIÓN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Simulación Tridimensional en Python (Google Colab / WebGL)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7/16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1362456"/>
            <a:ext cx="5138928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325880"/>
            <a:ext cx="73152" cy="48463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39903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0F0FF"/>
                </a:solidFill>
              </a:defRPr>
            </a:pPr>
            <a:r>
              <a:t>DESARROLLO EN PYTHON &amp; GOOGLE COLAB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00F0FF"/>
                </a:solidFill>
              </a:defRPr>
            </a:pPr>
            <a:r>
              <a:t>PYTHON 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856232"/>
            <a:ext cx="475488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Cuaderno Ejecutable: </a:t>
            </a:r>
            <a:r>
              <a:rPr sz="919">
                <a:solidFill>
                  <a:srgbClr val="E2E8F0"/>
                </a:solidFill>
              </a:rPr>
              <a:t>Simulacion_3D_DataCenter_Pintado.ipynb implementado con Plotly 3D y NumPy.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Motor Gráfico WebGL: </a:t>
            </a:r>
            <a:r>
              <a:rPr sz="919">
                <a:solidFill>
                  <a:srgbClr val="E2E8F0"/>
                </a:solidFill>
              </a:rPr>
              <a:t>Permite rotación orbital en 360°, paneo, zoom y alternancia de capas en tiempo real.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Cálculo de Atenuación Óptica: </a:t>
            </a:r>
            <a:r>
              <a:rPr sz="919">
                <a:solidFill>
                  <a:srgbClr val="E2E8F0"/>
                </a:solidFill>
              </a:rPr>
              <a:t>Modelo matemático ANSI/TIA-568.3-D calculando 0.19 dB en enlaces OM4 (headroom de 1.71 dB frente al límite IEEE de 1.9 dB).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Exportación Autónoma HTML: </a:t>
            </a:r>
            <a:r>
              <a:rPr sz="919">
                <a:solidFill>
                  <a:srgbClr val="E2E8F0"/>
                </a:solidFill>
              </a:rPr>
              <a:t>Archivo Simulacion_3D_DataCenter_Pintado.html que se abre en cualquier navegador sin instalar software adicional.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Simulación Fluidodinámica: </a:t>
            </a:r>
            <a:r>
              <a:rPr sz="919">
                <a:solidFill>
                  <a:srgbClr val="E2E8F0"/>
                </a:solidFill>
              </a:rPr>
              <a:t>Vectores tridimensionales que modelan el aire frío inyectado (azul) y el calor evacuado (rojo).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25880"/>
            <a:ext cx="5242255" cy="146304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325880"/>
            <a:ext cx="505937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435608"/>
            <a:ext cx="49679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10B981"/>
                </a:solidFill>
              </a:rPr>
              <a:t>0.19 </a:t>
            </a:r>
            <a:r>
              <a:rPr b="1" sz="1300">
                <a:solidFill>
                  <a:srgbClr val="E2E8F0"/>
                </a:solidFill>
              </a:rPr>
              <a:t>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47672"/>
            <a:ext cx="49679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FFFFFF"/>
                </a:solidFill>
              </a:defRPr>
            </a:pPr>
            <a:r>
              <a:t>ATENUACIÓN TOTAL DEL ENLACE OM4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21992"/>
            <a:ext cx="49679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Límite IEEE 802.3ba: 1.90 dB | Estado: ÓPTIMO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926080"/>
            <a:ext cx="5242255" cy="146304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926080"/>
            <a:ext cx="5059375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035808"/>
            <a:ext cx="49679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00F0FF"/>
                </a:solidFill>
              </a:rPr>
              <a:t>200 </a:t>
            </a:r>
            <a:r>
              <a:rPr b="1" sz="1300">
                <a:solidFill>
                  <a:srgbClr val="E2E8F0"/>
                </a:solidFill>
              </a:rPr>
              <a:t>Gbps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547872"/>
            <a:ext cx="49679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FFFFFF"/>
                </a:solidFill>
              </a:defRPr>
            </a:pPr>
            <a:r>
              <a:t>THROUGHPUT ACTIVO DE BACKBONE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822192"/>
            <a:ext cx="49679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Switches Spine 1 &amp; 2 operando en modo Activo/Activo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526280"/>
            <a:ext cx="5242255" cy="16459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526280"/>
            <a:ext cx="5059375" cy="4572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636008"/>
            <a:ext cx="49679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FB703"/>
                </a:solidFill>
              </a:rPr>
              <a:t>360 </a:t>
            </a:r>
            <a:r>
              <a:rPr b="1" sz="1300">
                <a:solidFill>
                  <a:srgbClr val="E2E8F0"/>
                </a:solidFill>
              </a:rPr>
              <a:t>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148072"/>
            <a:ext cx="49679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FFFFFF"/>
                </a:solidFill>
              </a:defRPr>
            </a:pPr>
            <a:r>
              <a:t>INTERACTIVIDAD ORBITAL WEBGL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422392"/>
            <a:ext cx="49679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Inspección de puertos MPO, latencias y telemetría en vivo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CRITERIOS DE SELECCIÓN FÍSICA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Fibra Óptica vs. Cobre: Selección de Medios de Transmisión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8/16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1362456"/>
            <a:ext cx="5138928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325880"/>
            <a:ext cx="73152" cy="48463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39903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0F0FF"/>
                </a:solidFill>
              </a:defRPr>
            </a:pPr>
            <a:r>
              <a:t>FIBRA ÓPTICA (OM4 / OM5 / OS2)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00F0FF"/>
                </a:solidFill>
              </a:defRPr>
            </a:pPr>
            <a:r>
              <a:t>BACKBONE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856232"/>
            <a:ext cx="475488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Multimodo OM4 / OM5: </a:t>
            </a:r>
            <a:r>
              <a:rPr sz="919">
                <a:solidFill>
                  <a:srgbClr val="E2E8F0"/>
                </a:solidFill>
              </a:rPr>
              <a:t>Velocidades de 40G, 100G y 400 Gbps hasta 150m con conectores MPO/MTP de 12 fibras.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Monomodo OS2: </a:t>
            </a:r>
            <a:r>
              <a:rPr sz="919">
                <a:solidFill>
                  <a:srgbClr val="E2E8F0"/>
                </a:solidFill>
              </a:rPr>
              <a:t>Alcance kilométrico (10 km a 40 km) con latencia mínima para enlaces metropolitanos y WAN.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100% Inmune a EMI: </a:t>
            </a:r>
            <a:r>
              <a:rPr sz="919">
                <a:solidFill>
                  <a:srgbClr val="E2E8F0"/>
                </a:solidFill>
              </a:rPr>
              <a:t>Totalmente inmune al ruido electromagnético de motores y grúas de la zona portuaria de Paita.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Flujo de Aire Óptimo: </a:t>
            </a:r>
            <a:r>
              <a:rPr sz="919">
                <a:solidFill>
                  <a:srgbClr val="E2E8F0"/>
                </a:solidFill>
              </a:rPr>
              <a:t>Cables extremadamente delgados y ligeros que no bloquean la ventilación en bandejas.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Ubicación en Proyecto: </a:t>
            </a:r>
            <a:r>
              <a:rPr sz="919">
                <a:solidFill>
                  <a:srgbClr val="E2E8F0"/>
                </a:solidFill>
              </a:rPr>
              <a:t>Columna vertebral Spine-Leaf (MDA a HDA) y acometida WAN en cuarto 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25880"/>
            <a:ext cx="5242255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54496" y="1362456"/>
            <a:ext cx="5169103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73152" cy="484632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99032"/>
            <a:ext cx="3870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B703"/>
                </a:solidFill>
              </a:defRPr>
            </a:pPr>
            <a:r>
              <a:t>COBRE (CATEGORÍA 6A / CAT 8)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71455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FFB703"/>
                </a:solidFill>
              </a:defRPr>
            </a:pPr>
            <a:r>
              <a:t>RACK 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856232"/>
            <a:ext cx="4785055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Categoría 6A (Recomendada ToR): </a:t>
            </a:r>
            <a:r>
              <a:rPr sz="919">
                <a:solidFill>
                  <a:srgbClr val="E2E8F0"/>
                </a:solidFill>
              </a:rPr>
              <a:t>Soporta 10 Gbps a 100 metros. Conexión costo-efectiva servidor a switch en rack.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Categoría 8 (25G/40G): </a:t>
            </a:r>
            <a:r>
              <a:rPr sz="919">
                <a:solidFill>
                  <a:srgbClr val="E2E8F0"/>
                </a:solidFill>
              </a:rPr>
              <a:t>Hasta 40GBASE-T en tramos cortos de 30m; requiere blindaje STP y tierra estricta.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Bajo Costo Inicial: </a:t>
            </a:r>
            <a:r>
              <a:rPr sz="919">
                <a:solidFill>
                  <a:srgbClr val="E2E8F0"/>
                </a:solidFill>
              </a:rPr>
              <a:t>Tarjetas y puertos RJ45 estándar integrados en los servidores a una fracción del costo óptico.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Soporte PoE+: </a:t>
            </a:r>
            <a:r>
              <a:rPr sz="919">
                <a:solidFill>
                  <a:srgbClr val="E2E8F0"/>
                </a:solidFill>
              </a:rPr>
              <a:t>Alimenta consolas de administración remota KVM, sensores IoT y cámaras de monitoreo.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Ubicación en Proyecto: </a:t>
            </a:r>
            <a:r>
              <a:rPr sz="919">
                <a:solidFill>
                  <a:srgbClr val="E2E8F0"/>
                </a:solidFill>
              </a:rPr>
              <a:t>Parcheo horizontal dentro del mismo gabinete 42U (ToR a Servidores blade).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PRODUCTO CENTRAL DE LA SESIÓN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Cuadro Comparativo: Cobre vs. Fibra Multimodo vs. Fibra Monomodo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9/16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32588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743200"/>
                <a:gridCol w="2743200"/>
                <a:gridCol w="2743200"/>
              </a:tblGrid>
              <a:tr h="538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CRITERIO DE INGENIERÍA</a:t>
                      </a:r>
                    </a:p>
                  </a:txBody>
                  <a:tcPr>
                    <a:solidFill>
                      <a:srgbClr val="1226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COBRE (CAT 6A / CAT 8)</a:t>
                      </a:r>
                    </a:p>
                  </a:txBody>
                  <a:tcPr>
                    <a:solidFill>
                      <a:srgbClr val="1226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FIBRA MULTIMODO (OM4/OM5)</a:t>
                      </a:r>
                    </a:p>
                  </a:txBody>
                  <a:tcPr>
                    <a:solidFill>
                      <a:srgbClr val="1226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FIBRA MONOMODO (OS2)</a:t>
                      </a:r>
                    </a:p>
                  </a:txBody>
                  <a:tcPr>
                    <a:solidFill>
                      <a:srgbClr val="12264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Velocidad / Ancho de Banda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10 Gbps (Cat 6A) / 25G-40G (Cat 8)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40G, 100G hasta 400 Gbps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0B981"/>
                          </a:solidFill>
                        </a:defRPr>
                      </a:pPr>
                      <a:r>
                        <a:t>100G, 400G hasta 800 Gbps+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Distancia Máxima Efectiva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Hasta 100 m (Cat 6A) / 30 m (Cat 8)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Hasta 100 m - 150 m (40G/100G)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0B981"/>
                          </a:solidFill>
                        </a:defRPr>
                      </a:pPr>
                      <a:r>
                        <a:t>Hasta 10 km - 40 km (sin repetidor)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Inmunidad a Ruido EMI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Vulnerable (requiere apantallamiento)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Totalmente Inmune (óptico puro)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0B981"/>
                          </a:solidFill>
                        </a:defRPr>
                      </a:pPr>
                      <a:r>
                        <a:t>Totalmente Inmune (óptico puro)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Latencia de Transmisión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Baja (~3 a 5 microsegundos)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Ultra Baja (&lt; 1 microsegundo)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0B981"/>
                          </a:solidFill>
                        </a:defRPr>
                      </a:pPr>
                      <a:r>
                        <a:t>Mínima física (velocidad luz)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Diámetro y Disipación Térmica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Grueso y pesado (bloquea flujo aire)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Delgado y liviano (flujo óptimo)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0B981"/>
                          </a:solidFill>
                        </a:defRPr>
                      </a:pPr>
                      <a:r>
                        <a:t>Extremadamente fino y ligero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Costo del Medio (Cable)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Económico (Bajo costo por metro)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Moderado a Alto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0B981"/>
                          </a:solidFill>
                        </a:defRPr>
                      </a:pPr>
                      <a:r>
                        <a:t>Económico en cable / Alto en láser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Costo de Transceptores/Puertos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Muy Bajo (RJ45 estándar)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Moderado (Módulos QSFP28 MPO)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0B981"/>
                          </a:solidFill>
                        </a:defRPr>
                      </a:pPr>
                      <a:r>
                        <a:t>Elevado (Ópticas láser 1310nm)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Ubicación en el Caso Práctico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Racks EDA: Servidores a Switch ToR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Backbone Spine-Leaf (MDA a HDA)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0B981"/>
                          </a:solidFill>
                        </a:defRPr>
                      </a:pPr>
                      <a:r>
                        <a:t>Cuarto ER: Acometida WAN / ISPs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INFRAESTRUCTURA FÍSICA Y GESTIÓN TÉRMICA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Bandejas Portacables, Racks 42U y Confinamiento de Pasillos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10/16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5303520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453896"/>
            <a:ext cx="2926080" cy="292608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MONTAJE FÍSICO Y GESTIÓN TÉRMICA</a:t>
            </a:r>
          </a:p>
        </p:txBody>
      </p:sp>
      <p:pic>
        <p:nvPicPr>
          <p:cNvPr id="13" name="Picture 12" descr="datacenter_rack_cabl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92168"/>
            <a:ext cx="4937760" cy="2755959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914400" y="5138928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FFFFFF"/>
                </a:solidFill>
              </a:defRPr>
            </a:pPr>
            <a:r>
              <a:t>✦ Confinamiento Pasillo Frío y Bandejas Electrozincadas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Bandejas aéreas a 2.60m garantizando radios de curvatura y flujo de aire optimizado hacia racks 42U.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25880"/>
            <a:ext cx="5150815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45936" y="1362456"/>
            <a:ext cx="5077663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325880"/>
            <a:ext cx="73152" cy="484632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99032"/>
            <a:ext cx="3779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B703"/>
                </a:solidFill>
              </a:defRPr>
            </a:pPr>
            <a:r>
              <a:t>ESPECIFICACIONES DE INFRAESTRUCTURA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71455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FFB703"/>
                </a:solidFill>
              </a:defRPr>
            </a:pPr>
            <a:r>
              <a:t>ANSI/TIA-942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856232"/>
            <a:ext cx="4693615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Bandejas Tipo Canastilla Aérea: </a:t>
            </a:r>
            <a:r>
              <a:rPr sz="919">
                <a:solidFill>
                  <a:srgbClr val="E2E8F0"/>
                </a:solidFill>
              </a:rPr>
              <a:t>Malla electrozincada a 2.60m de altura. Nivel superior exclusivo para fibra OM4 (ductos amarillos) y nivel inferior para cobre Cat 6A.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Confinamiento Pasillo Frío (Cold Aisle): </a:t>
            </a:r>
            <a:r>
              <a:rPr sz="919">
                <a:solidFill>
                  <a:srgbClr val="E2E8F0"/>
                </a:solidFill>
              </a:rPr>
              <a:t>Cerramiento hermético con puertas de cristal. Inyección de aire a 20°C-22°C impulsado por piso falso hacia el frente de los racks.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Pasillo Caliente de Escape (Hot Aisle): </a:t>
            </a:r>
            <a:r>
              <a:rPr sz="919">
                <a:solidFill>
                  <a:srgbClr val="E2E8F0"/>
                </a:solidFill>
              </a:rPr>
              <a:t>Extracción confinada a 35°C hacia los aires acondicionados de precisión CRAC, logrando un PUE &lt; 1.35.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Gabinetes Racks 42U: </a:t>
            </a:r>
            <a:r>
              <a:rPr sz="919">
                <a:solidFill>
                  <a:srgbClr val="E2E8F0"/>
                </a:solidFill>
              </a:rPr>
              <a:t>Unidades estándar de 19" x 800mm x 1200mm con puertas microperforadas (80% de flujo aerotérmico) y PDUs inteligentes monitoreadas.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OPERACIÓN Y MANTENIMIENTO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Sistemas de Parcheo, Radios de Curvatura y Etiquetado ANSI/TIA-606-C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11/16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5303520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453896"/>
            <a:ext cx="2926080" cy="292608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10B981"/>
                </a:solidFill>
              </a:defRPr>
            </a:pPr>
            <a:r>
              <a:t>PARCHEO FRONT-END DE RACK (TIA-606-C)</a:t>
            </a:r>
          </a:p>
        </p:txBody>
      </p:sp>
      <p:pic>
        <p:nvPicPr>
          <p:cNvPr id="13" name="Picture 12" descr="fiber_copper_patch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92168"/>
            <a:ext cx="4937760" cy="2755959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914400" y="5138928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FFFFFF"/>
                </a:solidFill>
              </a:defRPr>
            </a:pPr>
            <a:r>
              <a:t>✦ Peinado Frontal con Sujeción Exclusiva de Velcro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Fibra OM4 MPO superior para Backbone y Cobre Cat 6A inferior para servidores blade sin estrangulamiento.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25880"/>
            <a:ext cx="5150815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45936" y="1362456"/>
            <a:ext cx="5077663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325880"/>
            <a:ext cx="73152" cy="4846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99032"/>
            <a:ext cx="3779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BUENAS PRÁCTICAS DE ORDENAMIENTO FÍSICO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71455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10B981"/>
                </a:solidFill>
              </a:defRPr>
            </a:pPr>
            <a:r>
              <a:t>TIA-606-C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856232"/>
            <a:ext cx="4693615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Patch Panels Modulares Angulados: </a:t>
            </a:r>
            <a:r>
              <a:rPr sz="919">
                <a:solidFill>
                  <a:srgbClr val="E2E8F0"/>
                </a:solidFill>
              </a:rPr>
              <a:t>Paneles de 24 y 48 puertos para cobre Cat 6A apantallado y cassettes ópticos preconectorizados MPO a LC dúplex.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Sujeción Exclusiva con Velcro: </a:t>
            </a:r>
            <a:r>
              <a:rPr sz="919">
                <a:solidFill>
                  <a:srgbClr val="E2E8F0"/>
                </a:solidFill>
              </a:rPr>
              <a:t>Prohibido el uso de precintos plásticos (cinchos), los cuales estrangulan los cables y provocan microcurvaturas.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Respeto de Radios de Curvatura: </a:t>
            </a:r>
            <a:r>
              <a:rPr sz="919">
                <a:solidFill>
                  <a:srgbClr val="E2E8F0"/>
                </a:solidFill>
              </a:rPr>
              <a:t>Radio mínimo de 4 veces el diámetro exterior en cable balanceado (cobre) y 20 veces en fibra óptica.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Rotulación Normalizada ANSI/TIA-606-C: </a:t>
            </a:r>
            <a:r>
              <a:rPr sz="919">
                <a:solidFill>
                  <a:srgbClr val="E2E8F0"/>
                </a:solidFill>
              </a:rPr>
              <a:t>Identificación indeleble en ambos extremos de cada patch cord (ej. RK01-U40-P12 a SW-TOR01-P12), reduciendo el MTTR en 80%.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ACTIVIDAD 2: MAPA CONCEPTUAL DE LA SESIÓN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Mapa Conceptual: Sistema de Transporte de Información en Data Centers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12/16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34440"/>
            <a:ext cx="10728655" cy="498348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362456"/>
            <a:ext cx="2926080" cy="292608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MAPA CONCEPTUAL SISTEMATIZADO (ALTA DEFINICIÓN)</a:t>
            </a:r>
          </a:p>
        </p:txBody>
      </p:sp>
      <p:pic>
        <p:nvPicPr>
          <p:cNvPr id="13" name="Picture 12" descr="mapa_conceptual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610" y="1746504"/>
            <a:ext cx="5200474" cy="3401568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914400" y="5184648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FFFFFF"/>
                </a:solidFill>
              </a:defRPr>
            </a:pPr>
            <a:r>
              <a:t>✦ Estructura Global del Sistema de Transporte de Información en Data Center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</a:defRPr>
            </a:pPr>
            <a:r>
              <a:t>Articulación técnica de normativas ANSI/TIA-942/568/606, medios ópticos y balanceados, topología Spine-Leaf y canalizaciones.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FUNDAMENTACIÓN TEÓRICA DEL MAPA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Los 4 Pilares del Sistema de Transporte de Información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13/16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2542032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1362456"/>
            <a:ext cx="2468880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325880"/>
            <a:ext cx="73152" cy="484632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399032"/>
            <a:ext cx="1170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B703"/>
                </a:solidFill>
              </a:defRPr>
            </a:pPr>
            <a:r>
              <a:t>1. ESTÁNDARES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84832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FFB703"/>
                </a:solidFill>
              </a:defRPr>
            </a:pPr>
            <a:r>
              <a:t>NORMAS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856232"/>
            <a:ext cx="2084832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ANSI/TIA-568: </a:t>
            </a:r>
            <a:r>
              <a:rPr sz="880">
                <a:solidFill>
                  <a:srgbClr val="E2E8F0"/>
                </a:solidFill>
              </a:rPr>
              <a:t>Límites eléctricos de cobre (Cat 6A/8) y ópticos en canal de 100m.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ANSI/TIA-942: </a:t>
            </a:r>
            <a:r>
              <a:rPr sz="880">
                <a:solidFill>
                  <a:srgbClr val="E2E8F0"/>
                </a:solidFill>
              </a:rPr>
              <a:t>Zonas ER, MDA, HDA, EDA y niveles Tier I a Tier IV.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ANSI/TIA-606-C: </a:t>
            </a:r>
            <a:r>
              <a:rPr sz="880">
                <a:solidFill>
                  <a:srgbClr val="E2E8F0"/>
                </a:solidFill>
              </a:rPr>
              <a:t>Rotulación y administración.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6432" y="1325880"/>
            <a:ext cx="2542032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93008" y="1362456"/>
            <a:ext cx="2468880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1325880"/>
            <a:ext cx="73152" cy="4846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1399032"/>
            <a:ext cx="1170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2. MEDIOS FÍSICOS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9744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10B981"/>
                </a:solidFill>
              </a:defRPr>
            </a:pPr>
            <a:r>
              <a:t>MEDIOS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1856232"/>
            <a:ext cx="2084832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Fibra OM4/OM5: </a:t>
            </a:r>
            <a:r>
              <a:rPr sz="880">
                <a:solidFill>
                  <a:srgbClr val="E2E8F0"/>
                </a:solidFill>
              </a:rPr>
              <a:t>Conectores MPO/MTP para backbone 100G/400G.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Fibra OS2: </a:t>
            </a:r>
            <a:r>
              <a:rPr sz="880">
                <a:solidFill>
                  <a:srgbClr val="E2E8F0"/>
                </a:solidFill>
              </a:rPr>
              <a:t>Monomodo para enlaces WAN metropolitanos.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Cobre Cat 6A: </a:t>
            </a:r>
            <a:r>
              <a:rPr sz="880">
                <a:solidFill>
                  <a:srgbClr val="E2E8F0"/>
                </a:solidFill>
              </a:rPr>
              <a:t>Parcheo de servidores ToR en rack a 10 Gbps.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1325880"/>
            <a:ext cx="2542032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1362456"/>
            <a:ext cx="2468880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1344" y="1325880"/>
            <a:ext cx="73152" cy="4846320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399032"/>
            <a:ext cx="1170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B8500"/>
                </a:solidFill>
              </a:defRPr>
            </a:pPr>
            <a:r>
              <a:t>3. TOPOLOGÍAS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34656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FB8500"/>
                </a:solidFill>
              </a:defRPr>
            </a:pPr>
            <a: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1856232"/>
            <a:ext cx="2084832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Centralizada: </a:t>
            </a:r>
            <a:r>
              <a:rPr sz="880">
                <a:solidFill>
                  <a:srgbClr val="E2E8F0"/>
                </a:solidFill>
              </a:rPr>
              <a:t>Enlaces directos solo en micro-datacenters.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Jerárquica 3C: </a:t>
            </a:r>
            <a:r>
              <a:rPr sz="880">
                <a:solidFill>
                  <a:srgbClr val="E2E8F0"/>
                </a:solidFill>
              </a:rPr>
              <a:t>Core-Dist-Acceso con riesgo de bloqueo STP.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Spine-Leaf: </a:t>
            </a:r>
            <a:r>
              <a:rPr sz="880">
                <a:solidFill>
                  <a:srgbClr val="E2E8F0"/>
                </a:solidFill>
              </a:rPr>
              <a:t>Matriz de 2 niveles no bloqueante Este-Oeste.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6256" y="1325880"/>
            <a:ext cx="2542032" cy="48463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42832" y="1362456"/>
            <a:ext cx="2468880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06256" y="1325880"/>
            <a:ext cx="73152" cy="4846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89136" y="1399032"/>
            <a:ext cx="1170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A855F7"/>
                </a:solidFill>
              </a:defRPr>
            </a:pPr>
            <a:r>
              <a:t>4. GESTIÓN FÍSICA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59568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A855F7"/>
                </a:solidFill>
              </a:defRPr>
            </a:pPr>
            <a:r>
              <a:t>FÍSICO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856" y="1856232"/>
            <a:ext cx="2084832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Bandejas Malla: </a:t>
            </a:r>
            <a:r>
              <a:rPr sz="880">
                <a:solidFill>
                  <a:srgbClr val="E2E8F0"/>
                </a:solidFill>
              </a:rPr>
              <a:t>Disipación pasiva y orden superior sobre racks.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Racks 42U: </a:t>
            </a:r>
            <a:r>
              <a:rPr sz="880">
                <a:solidFill>
                  <a:srgbClr val="E2E8F0"/>
                </a:solidFill>
              </a:rPr>
              <a:t>Confinamiento pasillo frío y PDUs inteligentes.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880">
                <a:solidFill>
                  <a:srgbClr val="FFFFFF"/>
                </a:solidFill>
              </a:rPr>
              <a:t>✦ Curvatura: </a:t>
            </a:r>
            <a:r>
              <a:rPr sz="880">
                <a:solidFill>
                  <a:srgbClr val="E2E8F0"/>
                </a:solidFill>
              </a:rPr>
              <a:t>Respeto de radio mínimo para evitar atenuación.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VIABILIDAD TÉCNICO-ECONÓMICA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Presupuesto Estimado de Equipamiento e Inversión (Paita)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14/16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32588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876495"/>
                <a:gridCol w="1280160"/>
                <a:gridCol w="1828800"/>
                <a:gridCol w="182880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ÍTEM</a:t>
                      </a:r>
                    </a:p>
                  </a:txBody>
                  <a:tcPr>
                    <a:solidFill>
                      <a:srgbClr val="1226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DESCRIPCIÓN DEL COMPONENTE TECNOLÓGICO</a:t>
                      </a:r>
                    </a:p>
                  </a:txBody>
                  <a:tcPr>
                    <a:solidFill>
                      <a:srgbClr val="1226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CANTIDAD</a:t>
                      </a:r>
                    </a:p>
                  </a:txBody>
                  <a:tcPr>
                    <a:solidFill>
                      <a:srgbClr val="1226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P. UNIT. (S/.)</a:t>
                      </a:r>
                    </a:p>
                  </a:txBody>
                  <a:tcPr>
                    <a:solidFill>
                      <a:srgbClr val="1226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TOTAL (S/.)</a:t>
                      </a:r>
                    </a:p>
                  </a:txBody>
                  <a:tcPr>
                    <a:solidFill>
                      <a:srgbClr val="12264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FFFFFF"/>
                          </a:solidFill>
                        </a:defRPr>
                      </a:pPr>
                      <a:r>
                        <a:t>Gabinete Rack Servidores 42U 800x1200mm c/ pasillos y PDU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4 Unid.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4,800.00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19,200.00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02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FFFFFF"/>
                          </a:solidFill>
                        </a:defRPr>
                      </a:pPr>
                      <a:r>
                        <a:t>Switch Spine Core 32x100GbE QSFP28 MPO L3 Datacenter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2 Unid.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22,500.00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45,000.00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03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FFFFFF"/>
                          </a:solidFill>
                        </a:defRPr>
                      </a:pPr>
                      <a:r>
                        <a:t>Switch Leaf ToR 48x10GbE RJ45 + 6x100GbE QSFP28 Uplink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4 Unid.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12,200.00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48,800.00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04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FFFFFF"/>
                          </a:solidFill>
                        </a:defRPr>
                      </a:pPr>
                      <a:r>
                        <a:t>Troncales Fibra Óptica OM4 MTP/MPO 12 hilos preconectorizados (15m)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8 Unid.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650.00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5,200.00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05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FFFFFF"/>
                          </a:solidFill>
                        </a:defRPr>
                      </a:pPr>
                      <a:r>
                        <a:t>Bobina Cable Cobre Cat 6A F/UTP LSZH 305m (Siemon / Panduit)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3 Bobinas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1,150.00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3,450.00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06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FFFFFF"/>
                          </a:solidFill>
                        </a:defRPr>
                      </a:pPr>
                      <a:r>
                        <a:t>Patch Panels modulares 24 puertos Cat 6A apantallados + Jacks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8 Unid.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380.00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3,040.00</a:t>
                      </a:r>
                    </a:p>
                  </a:txBody>
                  <a:tcPr>
                    <a:solidFill>
                      <a:srgbClr val="0C142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B703"/>
                          </a:solidFill>
                        </a:defRPr>
                      </a:pPr>
                      <a:r>
                        <a:t>07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FFFFFF"/>
                          </a:solidFill>
                        </a:defRPr>
                      </a:pPr>
                      <a:r>
                        <a:t>Bandejas portacables tipo canastilla aérea electrozincada 300mm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30 Metros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E2E8F0"/>
                          </a:solidFill>
                        </a:defRPr>
                      </a:pPr>
                      <a:r>
                        <a:t>120.00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00F0FF"/>
                          </a:solidFill>
                        </a:defRPr>
                      </a:pPr>
                      <a:r>
                        <a:t>3,600.00</a:t>
                      </a:r>
                    </a:p>
                  </a:txBody>
                  <a:tcPr>
                    <a:solidFill>
                      <a:srgbClr val="111C33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303520" y="5486400"/>
            <a:ext cx="6156655" cy="777240"/>
          </a:xfrm>
          <a:prstGeom prst="roundRect">
            <a:avLst/>
          </a:prstGeom>
          <a:solidFill>
            <a:srgbClr val="182A4B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5623560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B703"/>
                </a:solidFill>
              </a:defRPr>
            </a:pPr>
            <a:r>
              <a:t>INVERSIÓN TOTAL ESTIMADA: S/. 128,290.00 PEN (Inc. IGV)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"/>
            <a:ext cx="2926080" cy="256032"/>
          </a:xfrm>
          <a:prstGeom prst="roundRect">
            <a:avLst/>
          </a:prstGeom>
          <a:solidFill>
            <a:srgbClr val="1C2D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B703"/>
                </a:solidFill>
              </a:defRPr>
            </a:pPr>
            <a:r>
              <a:t>✦  LECCIONES APRENDIDAS Y RECOMENDACIONES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Conclusiones Técnicas y Recomendaciones de Ingeniería</a:t>
            </a:r>
          </a:p>
        </p:txBody>
      </p:sp>
      <p:pic>
        <p:nvPicPr>
          <p:cNvPr id="7" name="Picture 6" descr="logo_her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37160"/>
            <a:ext cx="621792" cy="77724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IESTP HERMANOS CÁRCAMO – PAITA  |  DISEÑO DE DATA CENTER (SESIÓN 05)  |  GERSON MISAEL PINTADO HUAMAN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510528"/>
            <a:ext cx="731520" cy="256032"/>
          </a:xfrm>
          <a:prstGeom prst="roundRect">
            <a:avLst/>
          </a:prstGeom>
          <a:solidFill>
            <a:srgbClr val="142341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F0FF"/>
                </a:solidFill>
              </a:defRPr>
            </a:pPr>
            <a:r>
              <a:t>15/16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25880"/>
            <a:ext cx="5212080" cy="23317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1362456"/>
            <a:ext cx="5138928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325880"/>
            <a:ext cx="73152" cy="2331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39903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0F0FF"/>
                </a:solidFill>
              </a:defRPr>
            </a:pPr>
            <a:r>
              <a:t>SINERGIA HÍBRIDA COBRE - FIBRA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00F0FF"/>
                </a:solidFill>
              </a:defRPr>
            </a:pPr>
            <a:r>
              <a:t>EQUILIBRIO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856232"/>
            <a:ext cx="475488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Solución Equilibrada: </a:t>
            </a:r>
            <a:r>
              <a:rPr sz="919">
                <a:solidFill>
                  <a:srgbClr val="E2E8F0"/>
                </a:solidFill>
              </a:rPr>
              <a:t>La fibra OM4/OS2 es insustituible para el backbone Spine-Leaf e interconexión WAN; el cobre Cat 6A es la alternativa más costo-efectiva para conectar servidores ToR dentro del rack.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25880"/>
            <a:ext cx="5242255" cy="23317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54496" y="1362456"/>
            <a:ext cx="5169103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73152" cy="233172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99032"/>
            <a:ext cx="3870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B703"/>
                </a:solidFill>
              </a:defRPr>
            </a:pPr>
            <a:r>
              <a:t>ESTÁNDAR SPINE-LEAF OBLIGATORIO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71455" y="141732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FFB703"/>
                </a:solidFill>
              </a:defRPr>
            </a:pPr>
            <a:r>
              <a:t>NO-BLOQUEO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856232"/>
            <a:ext cx="4785055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Eliminación de Latencia: </a:t>
            </a:r>
            <a:r>
              <a:rPr sz="919">
                <a:solidFill>
                  <a:srgbClr val="E2E8F0"/>
                </a:solidFill>
              </a:rPr>
              <a:t>Spine-Leaf sustituye definitivamente la red jerárquica de 3 capas, eliminando bloqueos STP mediante ECMP y logrando latencias predecibles &lt; 1 µs para tráfico Este-Oeste.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86200"/>
            <a:ext cx="5212080" cy="23317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8096" y="3922776"/>
            <a:ext cx="5138928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886200"/>
            <a:ext cx="73152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5935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SIMULACIÓN 3D Y CLIMATIZACIÓN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397764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10B981"/>
                </a:solidFill>
              </a:defRPr>
            </a:pPr>
            <a:r>
              <a:t>PUE &lt; 1.35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16552"/>
            <a:ext cx="475488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Eficiencia Operativa: </a:t>
            </a:r>
            <a:r>
              <a:rPr sz="919">
                <a:solidFill>
                  <a:srgbClr val="E2E8F0"/>
                </a:solidFill>
              </a:rPr>
              <a:t>El modelado 3D demostró la importancia de confinar el pasillo frío (20°C a 22°C) y segregar bandejas aéreas, reduciendo el consumo eléctrico PUE y asegurando los radios de curvatura.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886200"/>
            <a:ext cx="5242255" cy="2331720"/>
          </a:xfrm>
          <a:prstGeom prst="roundRect">
            <a:avLst/>
          </a:prstGeom>
          <a:solidFill>
            <a:srgbClr val="111C33"/>
          </a:solidFill>
          <a:ln w="19050">
            <a:solidFill>
              <a:srgbClr val="23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54496" y="3922776"/>
            <a:ext cx="5169103" cy="438912"/>
          </a:xfrm>
          <a:prstGeom prst="roundRect">
            <a:avLst/>
          </a:prstGeom>
          <a:solidFill>
            <a:srgbClr val="15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886200"/>
            <a:ext cx="73152" cy="2331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959352"/>
            <a:ext cx="3870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A855F7"/>
                </a:solidFill>
              </a:defRPr>
            </a:pPr>
            <a:r>
              <a:t>ADAPTACIÓN AL ENTORNO DE PAITA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71455" y="3977640"/>
            <a:ext cx="1051560" cy="237744"/>
          </a:xfrm>
          <a:prstGeom prst="roundRect">
            <a:avLst/>
          </a:prstGeom>
          <a:solidFill>
            <a:srgbClr val="1C305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A855F7"/>
                </a:solidFill>
              </a:defRPr>
            </a:pPr>
            <a:r>
              <a:t>PAITA / PUERTO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416552"/>
            <a:ext cx="4785055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919">
                <a:solidFill>
                  <a:srgbClr val="FFFFFF"/>
                </a:solidFill>
              </a:rPr>
              <a:t>✦ Protección Contra la Salinidad: </a:t>
            </a:r>
            <a:r>
              <a:rPr sz="919">
                <a:solidFill>
                  <a:srgbClr val="E2E8F0"/>
                </a:solidFill>
              </a:rPr>
              <a:t>La humedad y salinidad del puerto de Paita hacen indispensable el uso de cubiertas LSZH (cero halógenos), apantallamiento F/UTP con tierra equipotencial y bandejas anticorrosivas.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911535" cy="5577840"/>
          </a:xfrm>
          <a:prstGeom prst="roundRect">
            <a:avLst/>
          </a:prstGeom>
          <a:solidFill>
            <a:srgbClr val="0C142A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minedu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05840"/>
            <a:ext cx="2336248" cy="621792"/>
          </a:xfrm>
          <a:prstGeom prst="rect">
            <a:avLst/>
          </a:prstGeom>
        </p:spPr>
      </p:pic>
      <p:pic>
        <p:nvPicPr>
          <p:cNvPr id="5" name="Picture 4" descr="logo_herc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914400"/>
            <a:ext cx="694944" cy="868680"/>
          </a:xfrm>
          <a:prstGeom prst="roundRect">
            <a:avLst/>
          </a:prstGeom>
          <a:ln w="12700">
            <a:solidFill>
              <a:srgbClr val="28416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828800" y="1554480"/>
            <a:ext cx="85340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B703"/>
                </a:solidFill>
              </a:defRPr>
            </a:pPr>
            <a:r>
              <a:t>¡MUCHAS GRACIAS POR SU ATENCIÓN!</a:t>
            </a:r>
          </a:p>
          <a:p>
            <a:pPr algn="ctr">
              <a:defRPr i="1" sz="1300">
                <a:solidFill>
                  <a:srgbClr val="E2E8F0"/>
                </a:solidFill>
              </a:defRPr>
            </a:pPr>
            <a:r>
              <a:t>«El cableado estructurado es el sistema circulatorio que da vida y confiabilidad al Data Center»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3474720"/>
            <a:ext cx="7253935" cy="2194560"/>
          </a:xfrm>
          <a:prstGeom prst="roundRect">
            <a:avLst/>
          </a:prstGeom>
          <a:solidFill>
            <a:srgbClr val="13203C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3611880"/>
            <a:ext cx="6858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0">
                <a:solidFill>
                  <a:srgbClr val="94A3B8"/>
                </a:solidFill>
              </a:rPr>
              <a:t>AUTOR / EXPOSITOR: </a:t>
            </a:r>
            <a:r>
              <a:rPr b="1" sz="1050">
                <a:solidFill>
                  <a:srgbClr val="FFB703"/>
                </a:solidFill>
              </a:rPr>
              <a:t>GERSON MISAEL PINTADO HUAMAN</a:t>
            </a:r>
          </a:p>
          <a:p>
            <a:pPr algn="ctr"/>
            <a:r>
              <a:rPr b="1" sz="1000">
                <a:solidFill>
                  <a:srgbClr val="94A3B8"/>
                </a:solidFill>
              </a:rPr>
              <a:t>DOCENTE RESPONSABLE: </a:t>
            </a:r>
            <a:r>
              <a:rPr b="1" sz="1050">
                <a:solidFill>
                  <a:srgbClr val="FFFFFF"/>
                </a:solidFill>
              </a:rPr>
              <a:t>ING. JAVIER EDUARDO JARAMILLO ATOCHE</a:t>
            </a:r>
          </a:p>
          <a:p>
            <a:pPr algn="ctr"/>
            <a:r>
              <a:rPr b="1" sz="1000">
                <a:solidFill>
                  <a:srgbClr val="94A3B8"/>
                </a:solidFill>
              </a:rPr>
              <a:t>UNIDAD DIDÁCTICA: </a:t>
            </a:r>
            <a:r>
              <a:rPr b="1" sz="1050">
                <a:solidFill>
                  <a:srgbClr val="FFFFFF"/>
                </a:solidFill>
              </a:rPr>
              <a:t>DISEÑO DE DATA CENTER – SESIÓN 05</a:t>
            </a:r>
          </a:p>
          <a:p>
            <a:pPr algn="ctr"/>
            <a:r>
              <a:rPr b="1" sz="1000">
                <a:solidFill>
                  <a:srgbClr val="94A3B8"/>
                </a:solidFill>
              </a:rPr>
              <a:t>PROGRAMA ACADÉMICO: </a:t>
            </a:r>
            <a:r>
              <a:rPr b="1" sz="1050">
                <a:solidFill>
                  <a:srgbClr val="FFFFFF"/>
                </a:solidFill>
              </a:rPr>
              <a:t>ARQUITECTURA DE PLATAFORMAS Y SERVICIOS DE TI</a:t>
            </a:r>
          </a:p>
          <a:p>
            <a:pPr algn="ctr"/>
            <a:r>
              <a:rPr b="1" sz="1000">
                <a:solidFill>
                  <a:srgbClr val="94A3B8"/>
                </a:solidFill>
              </a:rPr>
              <a:t>SEDE Y PERIODO: </a:t>
            </a:r>
            <a:r>
              <a:rPr b="1" sz="1050">
                <a:solidFill>
                  <a:srgbClr val="FFFFFF"/>
                </a:solidFill>
              </a:rPr>
              <a:t>IESTP HERMANOS CÁRCAMO – PAITA (2026)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